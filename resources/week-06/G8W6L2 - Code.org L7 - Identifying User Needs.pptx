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418795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60120"/>
            <a:ext cx="182880" cy="418795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3200" b="1" i="0">
                <a:solidFill>
                  <a:srgbClr val="FFFFFF"/>
                </a:solidFill>
                <a:latin typeface="Arial"/>
              </a:rPr>
              <a:t>GRADE 8 ICT/DESIGN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965960"/>
            <a:ext cx="8503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2100" b="0" i="0">
                <a:solidFill>
                  <a:srgbClr val="A8D4E8"/>
                </a:solidFill>
                <a:latin typeface="Arial"/>
              </a:rPr>
              <a:t>Lesson 7: Identifying User Needs (Code.org)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11480" y="2606040"/>
            <a:ext cx="8321039" cy="0"/>
          </a:xfrm>
          <a:prstGeom prst="line">
            <a:avLst/>
          </a:prstGeom>
          <a:ln w="12801">
            <a:solidFill>
              <a:srgbClr val="0F9E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200" b="0" i="0">
                <a:solidFill>
                  <a:srgbClr val="8DC8E0"/>
                </a:solidFill>
                <a:latin typeface="Arial"/>
              </a:rPr>
              <a:t>Ms. Abboud   •   Grade 8 - ICT/Design   •   Term 1, Week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Learning Objectives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WALT - We Are Learning 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Analyze interview notes to identify specific user needs.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53896"/>
            <a:ext cx="4160520" cy="3044952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300" b="1" i="0">
                <a:solidFill>
                  <a:srgbClr val="FFFFFF"/>
                </a:solidFill>
                <a:latin typeface="Arial"/>
              </a:rPr>
              <a:t>WILF - What I'm Looking For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73752" y="1892807"/>
            <a:ext cx="3831336" cy="2514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Each need is backed by a quote or detail from the interview.</a:t>
            </a:r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●"/>
            </a:pPr>
            <a:r>
              <a:rPr sz="1400" b="0" i="0">
                <a:solidFill>
                  <a:srgbClr val="1A1A1A"/>
                </a:solidFill>
                <a:latin typeface="Arial"/>
              </a:rPr>
              <a:t>The app idea clearly addresses one identified need.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Academic Vocabulary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623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Interview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Asking someone questions directly to learn about their needs, habits, or opinions.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60" y="1499616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60" y="1499616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55464" y="1554480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Barrier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55464" y="1828800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Something that gets in the way of a user doing what they need to do.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523744"/>
            <a:ext cx="4160520" cy="91440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2523744"/>
            <a:ext cx="64008" cy="9144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623" y="2578608"/>
            <a:ext cx="39319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400" b="1" i="0">
                <a:solidFill>
                  <a:srgbClr val="156082"/>
                </a:solidFill>
                <a:latin typeface="Arial"/>
              </a:rPr>
              <a:t>Opportunity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2852927"/>
            <a:ext cx="3931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1500"/>
              </a:lnSpc>
              <a:buNone/>
            </a:pPr>
            <a:r>
              <a:rPr sz="1150" b="0" i="0">
                <a:solidFill>
                  <a:srgbClr val="4A5568"/>
                </a:solidFill>
                <a:latin typeface="Arial"/>
              </a:rPr>
              <a:t>A chance to solve a problem or make something better for a user.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Frayer Model: Barrier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DEFINITION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0623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Something that gets in the way of a user doing what they need to do.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26864" y="1453896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1453896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CHARACTERISTICS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3168" y="1837944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Blocks a user; can be physical, digital, or informational.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EXAMPLES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3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An app that requires an account just to look at a menu.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26864" y="3035808"/>
            <a:ext cx="4242816" cy="147218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solidFill>
            <a:srgbClr val="B850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26864" y="3035808"/>
            <a:ext cx="4242816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1" i="0">
                <a:solidFill>
                  <a:srgbClr val="FFFFFF"/>
                </a:solidFill>
                <a:latin typeface="Arial"/>
              </a:rPr>
              <a:t>NON-EXAMPLES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73168" y="3419856"/>
            <a:ext cx="3950208" cy="10149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300" b="0" i="0">
                <a:solidFill>
                  <a:srgbClr val="1A1A1A"/>
                </a:solidFill>
                <a:latin typeface="Arial"/>
              </a:rPr>
              <a:t>A feature that makes something easier.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2779776"/>
            <a:ext cx="1280160" cy="402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FFFFFF"/>
                </a:solidFill>
                <a:latin typeface="Arial"/>
              </a:rPr>
              <a:t>BARRIER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indent="0">
              <a:buNone/>
            </a:pPr>
            <a:r>
              <a:rPr sz="1600" b="1" i="0">
                <a:solidFill>
                  <a:srgbClr val="FFFFFF"/>
                </a:solidFill>
                <a:latin typeface="Arial"/>
              </a:rPr>
              <a:t>National Identity Integration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773936"/>
            <a:ext cx="8595360" cy="2706624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1773936"/>
            <a:ext cx="64008" cy="2706624"/>
          </a:xfrm>
          <a:prstGeom prst="rect">
            <a:avLst/>
          </a:prstGeom>
          <a:solidFill>
            <a:srgbClr val="BE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1920240"/>
            <a:ext cx="83210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lnSpc>
                <a:spcPts val="2400"/>
              </a:lnSpc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UAE value of majlis-style listening: understanding what someone truly needs starts with genuinely hearing them out, not assuming. Today you listen to users through their interviews.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STARTER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Hook • Engage &amp; Ask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Journal: Hidden Needs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How can you find out what someone really needs, if they don't tell you directly?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1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I Do: Reading an Interview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3 Reads: first for the story, then for needs, then for barriers and opportunities.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Highlight the words that show what the user needs.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2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We Do: Barriers and Opportunities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In groups, share the barriers each user faces and the opportunities to help them.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Brainstorm app ideas for each user on poster paper.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LESSON 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Gradual Release of Responsibility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35 - 45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" y="4114800"/>
            <a:ext cx="1920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0" i="0">
                <a:solidFill>
                  <a:srgbClr val="CFE8F2"/>
                </a:solidFill>
                <a:latin typeface="Arial"/>
              </a:rPr>
              <a:t>3 /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80360" y="1280160"/>
            <a:ext cx="3163824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100"/>
              </a:lnSpc>
              <a:spcAft>
                <a:spcPts val="800"/>
              </a:spcAft>
              <a:buSzPct val="100000"/>
              <a:buChar char="●"/>
            </a:pPr>
            <a:r>
              <a:rPr sz="1600" b="1" i="0">
                <a:solidFill>
                  <a:srgbClr val="1A1A1A"/>
                </a:solidFill>
                <a:latin typeface="Arial"/>
              </a:rPr>
              <a:t>You Do: User Interviews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Choose one user and one app idea.</a:t>
            </a:r>
          </a:p>
          <a:p>
            <a:pPr marL="0" indent="0">
              <a:lnSpc>
                <a:spcPts val="2100"/>
              </a:lnSpc>
              <a:spcAft>
                <a:spcPts val="800"/>
              </a:spcAft>
              <a:buNone/>
            </a:pPr>
            <a:r>
              <a:rPr sz="1600" b="0" i="0">
                <a:solidFill>
                  <a:srgbClr val="1A1A1A"/>
                </a:solidFill>
                <a:latin typeface="Arial"/>
              </a:rPr>
              <a:t>Write need statements backed by evidence from the interview.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6208" y="1280160"/>
            <a:ext cx="2404872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indent="0">
              <a:buNone/>
            </a:pPr>
            <a:r>
              <a:rPr sz="1050" b="0" i="1">
                <a:solidFill>
                  <a:srgbClr val="6B7785"/>
                </a:solidFill>
                <a:latin typeface="Arial"/>
              </a:rPr>
              <a:t>Code.org activity: User Interviews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6208" y="1700784"/>
            <a:ext cx="2404872" cy="2551176"/>
          </a:xfrm>
          <a:prstGeom prst="rect">
            <a:avLst/>
          </a:prstGeom>
          <a:solidFill>
            <a:srgbClr val="FFFFFF"/>
          </a:solidFill>
          <a:ln w="12801">
            <a:solidFill>
              <a:srgbClr val="D8E4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hot_l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7648" y="1869948"/>
            <a:ext cx="2221992" cy="221193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foo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572000"/>
            <a:ext cx="9144000" cy="5669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60120"/>
            <a:ext cx="2377440" cy="3621024"/>
          </a:xfrm>
          <a:prstGeom prst="rect">
            <a:avLst/>
          </a:prstGeom>
          <a:solidFill>
            <a:srgbClr val="0F9E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800" b="1" i="0">
                <a:solidFill>
                  <a:srgbClr val="FFFFFF"/>
                </a:solidFill>
                <a:latin typeface="Arial"/>
              </a:rPr>
              <a:t>CLOSURE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691640"/>
            <a:ext cx="192024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200" b="0" i="0">
                <a:solidFill>
                  <a:srgbClr val="CFE8F2"/>
                </a:solidFill>
                <a:latin typeface="Arial"/>
              </a:rPr>
              <a:t>Transition &amp; Extend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0040" y="2194560"/>
            <a:ext cx="1737360" cy="0"/>
          </a:xfrm>
          <a:prstGeom prst="line">
            <a:avLst/>
          </a:prstGeom>
          <a:ln w="9144">
            <a:solidFill>
              <a:srgbClr val="CFE8F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 marL="0" indent="0">
              <a:buNone/>
            </a:pPr>
            <a:r>
              <a:rPr sz="1100" b="1" i="0">
                <a:solidFill>
                  <a:srgbClr val="CFE8F2"/>
                </a:solidFill>
                <a:latin typeface="Arial"/>
              </a:rPr>
              <a:t>5 - 10 minutes</a:t>
            </a:r>
          </a:p>
        </p:txBody>
      </p:sp>
      <p:sp>
        <p:nvSpPr>
          <p:cNvPr id="9" name="Rectangle 8"/>
          <p:cNvSpPr/>
          <p:nvPr/>
        </p:nvSpPr>
        <p:spPr>
          <a:xfrm>
            <a:off x="2651760" y="1097280"/>
            <a:ext cx="6217920" cy="3337560"/>
          </a:xfrm>
          <a:prstGeom prst="rect">
            <a:avLst/>
          </a:prstGeom>
          <a:solidFill>
            <a:srgbClr val="EE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0" y="1280160"/>
            <a:ext cx="5760720" cy="297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342900" indent="-342900">
              <a:lnSpc>
                <a:spcPts val="2400"/>
              </a:lnSpc>
              <a:spcAft>
                <a:spcPts val="800"/>
              </a:spcAft>
              <a:buSzPct val="100000"/>
              <a:buChar char="●"/>
            </a:pPr>
            <a:r>
              <a:rPr sz="1800" b="1" i="0">
                <a:solidFill>
                  <a:srgbClr val="1A1A1A"/>
                </a:solidFill>
                <a:latin typeface="Arial"/>
              </a:rPr>
              <a:t>Formal Check</a:t>
            </a:r>
          </a:p>
          <a:p>
            <a:pPr marL="0" indent="0">
              <a:lnSpc>
                <a:spcPts val="2400"/>
              </a:lnSpc>
              <a:spcAft>
                <a:spcPts val="800"/>
              </a:spcAft>
              <a:buNone/>
            </a:pPr>
            <a:r>
              <a:rPr sz="1800" b="0" i="0">
                <a:solidFill>
                  <a:srgbClr val="1A1A1A"/>
                </a:solidFill>
                <a:latin typeface="Arial"/>
              </a:rPr>
              <a:t>Formal Week 6 formative check: submit your improved screen and need statements via Toddle.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